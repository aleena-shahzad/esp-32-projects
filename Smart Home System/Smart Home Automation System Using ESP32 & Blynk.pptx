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7" r:id="rId5"/>
    <p:sldId id="272" r:id="rId6"/>
    <p:sldId id="273" r:id="rId7"/>
    <p:sldId id="268" r:id="rId8"/>
    <p:sldId id="274" r:id="rId9"/>
    <p:sldId id="275" r:id="rId10"/>
    <p:sldId id="276" r:id="rId11"/>
    <p:sldId id="277" r:id="rId12"/>
    <p:sldId id="278" r:id="rId13"/>
    <p:sldId id="259" r:id="rId14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>
      <p:cViewPr varScale="1">
        <p:scale>
          <a:sx n="96" d="100"/>
          <a:sy n="96" d="100"/>
        </p:scale>
        <p:origin x="86" y="20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1/5/2026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1/5/2026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1/5/2026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1/5/2026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1/5/2026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1/5/2026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1/5/2026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1/5/2026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1/5/2026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Smart Home Automation System Using ESP32 &amp; Blynk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IoT-Based Home Light Control System Using ESP32 and Blynk Cloud Platform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E5AF1A-1AAB-0C98-42C6-71CD6DD93557}"/>
              </a:ext>
            </a:extLst>
          </p:cNvPr>
          <p:cNvSpPr txBox="1"/>
          <p:nvPr/>
        </p:nvSpPr>
        <p:spPr>
          <a:xfrm>
            <a:off x="227012" y="5257800"/>
            <a:ext cx="5486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Amna (23-NTU-CS-1013)</a:t>
            </a:r>
          </a:p>
          <a:p>
            <a:r>
              <a:rPr lang="en-US" sz="1800" dirty="0"/>
              <a:t>Aleena Shahzad (23-NTU-CS-1009)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29381-7338-AB45-624A-A150B51BF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2055F-AAB3-805B-DFDA-9409F598A1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7CD32BC-3448-24FC-80E2-09E640A3AA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The Internet of Things (IoT) is a modern technology in which electronic devices are connected to the internet and can be controlled remotely.</a:t>
            </a:r>
            <a:br>
              <a:rPr lang="en-US" dirty="0"/>
            </a:br>
            <a:r>
              <a:rPr lang="en-US" dirty="0"/>
              <a:t>In this project, a smart light control system is designed where electric bulbs can be switched ON and OFF automatically using IoT technology. The project demonstrates how home appliances can be controlled wirelessly using a microcontroller and relay module.</a:t>
            </a:r>
          </a:p>
        </p:txBody>
      </p:sp>
    </p:spTree>
    <p:extLst>
      <p:ext uri="{BB962C8B-B14F-4D97-AF65-F5344CB8AC3E}">
        <p14:creationId xmlns:p14="http://schemas.microsoft.com/office/powerpoint/2010/main" val="3210199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68401-F60C-A6AB-546C-DB06F0A5E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8AC46-DEC4-2216-E5E0-802395B6D1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4C022E5-5E53-D2F1-BEBB-55B1634C36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26416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Traditional lighting systems require manual operation using wall switches.</a:t>
            </a:r>
          </a:p>
          <a:p>
            <a:br>
              <a:rPr lang="en-US" dirty="0"/>
            </a:br>
            <a:r>
              <a:rPr lang="en-US" dirty="0"/>
              <a:t>This leads to the following issues: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Energy wastage when lights are left 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Manual effort required every time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No remote access or automation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Inconvenience for elderly or disabled people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/>
              <a:t>Therefore, there is a need for a smart and automated lighting system.</a:t>
            </a:r>
          </a:p>
        </p:txBody>
      </p:sp>
    </p:spTree>
    <p:extLst>
      <p:ext uri="{BB962C8B-B14F-4D97-AF65-F5344CB8AC3E}">
        <p14:creationId xmlns:p14="http://schemas.microsoft.com/office/powerpoint/2010/main" val="546733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Objectives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design an IoT-based smart light control system</a:t>
            </a:r>
          </a:p>
          <a:p>
            <a:r>
              <a:rPr lang="en-US" dirty="0"/>
              <a:t>To control AC light bulbs wirelessly</a:t>
            </a:r>
          </a:p>
          <a:p>
            <a:r>
              <a:rPr lang="en-US" dirty="0"/>
              <a:t>To reduce human effort and save energy</a:t>
            </a:r>
          </a:p>
          <a:p>
            <a:r>
              <a:rPr lang="en-US" dirty="0"/>
              <a:t>To understand the working of relay, ESP module and IoT communication</a:t>
            </a:r>
          </a:p>
          <a:p>
            <a:r>
              <a:rPr lang="en-US" dirty="0"/>
              <a:t>To demonstrate automation in home appliances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CF499-3AA4-98B6-537C-F350DF0B5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D0FA834-0E26-EF9A-EE02-00D4FF46A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Components Used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3CA3DEB-688B-802E-C392-C66C7624C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4494529" cy="4462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The </a:t>
            </a:r>
            <a:r>
              <a:rPr lang="en-US" sz="1600" dirty="0">
                <a:solidFill>
                  <a:schemeClr val="accent1"/>
                </a:solidFill>
              </a:rPr>
              <a:t>hardware components </a:t>
            </a:r>
            <a:r>
              <a:rPr lang="en-US" sz="1600" dirty="0"/>
              <a:t>used in the project are:</a:t>
            </a:r>
          </a:p>
          <a:p>
            <a:r>
              <a:rPr lang="en-US" sz="1600" dirty="0"/>
              <a:t>ESP32 / </a:t>
            </a:r>
            <a:r>
              <a:rPr lang="en-US" sz="1600" dirty="0" err="1"/>
              <a:t>NodeMCU</a:t>
            </a:r>
            <a:r>
              <a:rPr lang="en-US" sz="1600" dirty="0"/>
              <a:t> microcontroller</a:t>
            </a:r>
          </a:p>
          <a:p>
            <a:r>
              <a:rPr lang="en-US" sz="1600" dirty="0"/>
              <a:t>2-Channel or 4-Channel Relay Module</a:t>
            </a:r>
          </a:p>
          <a:p>
            <a:r>
              <a:rPr lang="en-US" sz="1600" dirty="0"/>
              <a:t>AC Bulbs and Holders</a:t>
            </a:r>
          </a:p>
          <a:p>
            <a:r>
              <a:rPr lang="en-US" sz="1600" dirty="0"/>
              <a:t>Jumper wires</a:t>
            </a:r>
          </a:p>
          <a:p>
            <a:r>
              <a:rPr lang="en-US" sz="1600" dirty="0"/>
              <a:t>Power supply cable and plug</a:t>
            </a:r>
          </a:p>
          <a:p>
            <a:r>
              <a:rPr lang="en-US" sz="1600" dirty="0"/>
              <a:t>Smartphone for controlling lights</a:t>
            </a:r>
          </a:p>
          <a:p>
            <a:pPr marL="0" indent="0">
              <a:buNone/>
            </a:pPr>
            <a:r>
              <a:rPr lang="en-US" sz="1600" dirty="0"/>
              <a:t>All components are low-cost and easily available.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Content Placeholder 13">
            <a:extLst>
              <a:ext uri="{FF2B5EF4-FFF2-40B4-BE49-F238E27FC236}">
                <a16:creationId xmlns:a16="http://schemas.microsoft.com/office/drawing/2014/main" id="{5E1D4A2D-F44A-7236-F3F9-5678FE6AA682}"/>
              </a:ext>
            </a:extLst>
          </p:cNvPr>
          <p:cNvSpPr txBox="1">
            <a:spLocks/>
          </p:cNvSpPr>
          <p:nvPr/>
        </p:nvSpPr>
        <p:spPr>
          <a:xfrm>
            <a:off x="6475414" y="1701797"/>
            <a:ext cx="4494529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The </a:t>
            </a:r>
            <a:r>
              <a:rPr lang="en-US" sz="1800" dirty="0">
                <a:solidFill>
                  <a:schemeClr val="accent1"/>
                </a:solidFill>
              </a:rPr>
              <a:t>software part </a:t>
            </a:r>
            <a:r>
              <a:rPr lang="en-US" sz="1800" dirty="0"/>
              <a:t>consists of:</a:t>
            </a:r>
          </a:p>
          <a:p>
            <a:r>
              <a:rPr lang="en-US" sz="1800" dirty="0"/>
              <a:t>Visual Studio Code</a:t>
            </a:r>
          </a:p>
          <a:p>
            <a:r>
              <a:rPr lang="en-US" sz="1800" dirty="0"/>
              <a:t>Required libraries for ESP module</a:t>
            </a:r>
          </a:p>
          <a:p>
            <a:r>
              <a:rPr lang="en-US" sz="1800" dirty="0"/>
              <a:t>Wi-Fi configuration</a:t>
            </a:r>
          </a:p>
          <a:p>
            <a:r>
              <a:rPr lang="en-US" sz="1800" dirty="0"/>
              <a:t>Code for relay control</a:t>
            </a:r>
          </a:p>
          <a:p>
            <a:pPr marL="0" indent="0">
              <a:buNone/>
            </a:pPr>
            <a:r>
              <a:rPr lang="en-US" sz="1800" dirty="0"/>
              <a:t>The program continuously listens for input signals and responds in real time.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769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31688-850D-FEC9-0476-0EBE1BFEB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D9C30B4-4C27-2339-EADE-9F3EB286D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Circuit Diagram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82E1FA6-5A10-68E7-F05E-429D7B20A4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8883" y="2209800"/>
            <a:ext cx="4418329" cy="4267200"/>
          </a:xfrm>
        </p:spPr>
        <p:txBody>
          <a:bodyPr/>
          <a:lstStyle/>
          <a:p>
            <a:r>
              <a:rPr lang="en-US" sz="2000" dirty="0"/>
              <a:t>ESP32 is connected to relay input pins</a:t>
            </a:r>
          </a:p>
          <a:p>
            <a:r>
              <a:rPr lang="en-US" sz="2000" dirty="0"/>
              <a:t>Relay output is connected to AC bulb circuit</a:t>
            </a:r>
          </a:p>
          <a:p>
            <a:r>
              <a:rPr lang="en-US" sz="2000" dirty="0"/>
              <a:t>Neutral wire remains common</a:t>
            </a:r>
          </a:p>
          <a:p>
            <a:r>
              <a:rPr lang="en-US" sz="2000" dirty="0"/>
              <a:t>Live wire is switched using relay</a:t>
            </a:r>
          </a:p>
          <a:p>
            <a:r>
              <a:rPr lang="en-US" sz="2000" dirty="0"/>
              <a:t>Power plug provides AC supply</a:t>
            </a:r>
          </a:p>
          <a:p>
            <a:pPr marL="0" indent="0">
              <a:buNone/>
            </a:pPr>
            <a:r>
              <a:rPr lang="en-US" sz="2000" dirty="0"/>
              <a:t>When ESP sends HIGH/LOW signal, relay opens or closes the circuit and the bulb turns ON or OFF.</a:t>
            </a:r>
          </a:p>
          <a:p>
            <a:endParaRPr lang="en-US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8AB1C5-F253-AAF7-07F3-702B9BF01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069" y="2286000"/>
            <a:ext cx="5943600" cy="322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576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D79A6-5312-60F8-5391-C0A9BC08A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97ED3C0-6829-58B0-3F15-E8DC18F54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Working Principle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60EA769-53F3-0413-39C9-BCE15A3AB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8883" y="2209800"/>
            <a:ext cx="4418329" cy="42672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The working process is as follows:</a:t>
            </a:r>
          </a:p>
          <a:p>
            <a:r>
              <a:rPr lang="en-US" sz="1800" dirty="0"/>
              <a:t>ESP32 connects to Wi-Fi network</a:t>
            </a:r>
          </a:p>
          <a:p>
            <a:r>
              <a:rPr lang="en-US" sz="1800" dirty="0"/>
              <a:t>User sends control command through mobile app / web dashboard</a:t>
            </a:r>
          </a:p>
          <a:p>
            <a:r>
              <a:rPr lang="en-US" sz="1800" dirty="0"/>
              <a:t>Microcontroller receives the signal</a:t>
            </a:r>
          </a:p>
          <a:p>
            <a:r>
              <a:rPr lang="en-US" sz="1800" dirty="0"/>
              <a:t>Relay switches the AC circuit</a:t>
            </a:r>
          </a:p>
          <a:p>
            <a:r>
              <a:rPr lang="en-US" sz="1800" dirty="0"/>
              <a:t>Light bulbs turn ON or OFF accordingly</a:t>
            </a:r>
          </a:p>
          <a:p>
            <a:pPr marL="0" indent="0">
              <a:buNone/>
            </a:pPr>
            <a:r>
              <a:rPr lang="en-US" sz="1800" dirty="0"/>
              <a:t>Thus remote lighting control is successfully achieved.</a:t>
            </a:r>
          </a:p>
          <a:p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9A9FE6-C8FA-7AE9-6B8B-E38C0EEFE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12" y="995045"/>
            <a:ext cx="4427855" cy="486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015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7CB5A-2C4C-D396-E136-EEB24969C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9E9B-193B-8BF4-D157-5FE4961D5D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26F4F5F-DA2C-D831-F4B9-83CE30869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26416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project has wide applications such as: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Smart homes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Offices and classrooms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Hospitals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Hotels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Industries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Energy-efficient buildings</a:t>
            </a:r>
          </a:p>
          <a:p>
            <a:r>
              <a:rPr lang="en-US" dirty="0"/>
              <a:t>It can be extended to fan, TV, AC and other appliances.</a:t>
            </a:r>
          </a:p>
        </p:txBody>
      </p:sp>
    </p:spTree>
    <p:extLst>
      <p:ext uri="{BB962C8B-B14F-4D97-AF65-F5344CB8AC3E}">
        <p14:creationId xmlns:p14="http://schemas.microsoft.com/office/powerpoint/2010/main" val="2945633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02934-E6E9-67C4-8979-6A3144B08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A39627C-71B0-4A92-315A-73876A500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3580129" cy="1223963"/>
          </a:xfrm>
        </p:spPr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862B235-5F97-A34D-7ADC-30D238BB0EA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065212" y="1498600"/>
            <a:ext cx="408316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Saves electricity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Reduces human effort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Easy to install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Low cost solution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Remote operation possible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Improves comfort and convenience</a:t>
            </a: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A70B5466-01B7-979B-D25F-C9187A33C933}"/>
              </a:ext>
            </a:extLst>
          </p:cNvPr>
          <p:cNvSpPr txBox="1">
            <a:spLocks/>
          </p:cNvSpPr>
          <p:nvPr/>
        </p:nvSpPr>
        <p:spPr>
          <a:xfrm>
            <a:off x="3937891" y="3246963"/>
            <a:ext cx="3580129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Safety Measures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7266BA9-DEB2-F8B1-469E-FAA1549E6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8412" y="4482237"/>
            <a:ext cx="32112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accent1"/>
                </a:solidFill>
                <a:latin typeface="Arial" panose="020B0604020202020204" pitchFamily="34" charset="0"/>
              </a:rPr>
              <a:t>Avoid touching bare wires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accent1"/>
                </a:solidFill>
                <a:latin typeface="Arial" panose="020B0604020202020204" pitchFamily="34" charset="0"/>
              </a:rPr>
              <a:t>Provide insulation tape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accent1"/>
                </a:solidFill>
                <a:latin typeface="Arial" panose="020B0604020202020204" pitchFamily="34" charset="0"/>
              </a:rPr>
              <a:t>Use correct relay module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accent1"/>
                </a:solidFill>
                <a:latin typeface="Arial" panose="020B0604020202020204" pitchFamily="34" charset="0"/>
              </a:rPr>
              <a:t>Handle AC power carefully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accent1"/>
                </a:solidFill>
                <a:latin typeface="Arial" panose="020B0604020202020204" pitchFamily="34" charset="0"/>
              </a:rPr>
              <a:t>Keep water away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accent1"/>
                </a:solidFill>
                <a:latin typeface="Arial" panose="020B0604020202020204" pitchFamily="34" charset="0"/>
              </a:rPr>
              <a:t>Always test with caution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9636571-8F1E-C972-D242-EE1E1628C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1691" y="1465469"/>
            <a:ext cx="429012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accent1"/>
                </a:solidFill>
                <a:latin typeface="Arial" panose="020B0604020202020204" pitchFamily="34" charset="0"/>
              </a:rPr>
              <a:t>Future improvements may include: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accent1"/>
                </a:solidFill>
                <a:latin typeface="Arial" panose="020B0604020202020204" pitchFamily="34" charset="0"/>
              </a:rPr>
              <a:t>Mobile app-based control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accent1"/>
                </a:solidFill>
                <a:latin typeface="Arial" panose="020B0604020202020204" pitchFamily="34" charset="0"/>
              </a:rPr>
              <a:t>Voice control using Google Assistant or Alexa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accent1"/>
                </a:solidFill>
                <a:latin typeface="Arial" panose="020B0604020202020204" pitchFamily="34" charset="0"/>
              </a:rPr>
              <a:t>Automatic operation using motion sensors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accent1"/>
                </a:solidFill>
                <a:latin typeface="Arial" panose="020B0604020202020204" pitchFamily="34" charset="0"/>
              </a:rPr>
              <a:t>Power usage monitoring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accent1"/>
                </a:solidFill>
                <a:latin typeface="Arial" panose="020B0604020202020204" pitchFamily="34" charset="0"/>
              </a:rPr>
              <a:t>Scheduling of lights</a:t>
            </a:r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2F365376-A62D-73D8-8621-A4EA7931F492}"/>
              </a:ext>
            </a:extLst>
          </p:cNvPr>
          <p:cNvSpPr txBox="1">
            <a:spLocks/>
          </p:cNvSpPr>
          <p:nvPr/>
        </p:nvSpPr>
        <p:spPr>
          <a:xfrm>
            <a:off x="7770812" y="274636"/>
            <a:ext cx="3580129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1529685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Thank You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are welcome 👍</a:t>
            </a:r>
          </a:p>
        </p:txBody>
      </p:sp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819</TotalTime>
  <Words>483</Words>
  <Application>Microsoft Office PowerPoint</Application>
  <PresentationFormat>Custom</PresentationFormat>
  <Paragraphs>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Tech 16x9</vt:lpstr>
      <vt:lpstr>Smart Home Automation System Using ESP32 &amp; Blynk</vt:lpstr>
      <vt:lpstr>Introduction</vt:lpstr>
      <vt:lpstr>Problem Statement</vt:lpstr>
      <vt:lpstr>Objectives</vt:lpstr>
      <vt:lpstr>Components Used</vt:lpstr>
      <vt:lpstr>Circuit Diagram </vt:lpstr>
      <vt:lpstr>Working Principle</vt:lpstr>
      <vt:lpstr>Applications</vt:lpstr>
      <vt:lpstr>Advantages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Aleena Shahzad</dc:creator>
  <cp:lastModifiedBy>Aleena Shahzad</cp:lastModifiedBy>
  <cp:revision>2</cp:revision>
  <dcterms:created xsi:type="dcterms:W3CDTF">2026-01-05T08:22:58Z</dcterms:created>
  <dcterms:modified xsi:type="dcterms:W3CDTF">2026-01-06T04:30:02Z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